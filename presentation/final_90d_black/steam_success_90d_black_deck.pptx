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607040" cy="13258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45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Steam 신작 게임</a:t>
            </a:r>
            <a:endParaRPr lang="ko-KR" sz="4550"/>
          </a:p>
          <a:p>
            <a:pPr algn="l">
              <a:spcAft>
                <a:spcPts val="250"/>
              </a:spcAft>
            </a:pPr>
            <a:r>
              <a:rPr lang="ko-KR" sz="38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90일 성공 가능성 예측 모델</a:t>
            </a:r>
            <a:endParaRPr lang="ko-KR" sz="3800"/>
          </a:p>
        </p:txBody>
      </p:sp>
      <p:sp>
        <p:nvSpPr>
          <p:cNvPr id="5" name="Text 5"/>
          <p:cNvSpPr txBox="1"/>
          <p:nvPr/>
        </p:nvSpPr>
        <p:spPr>
          <a:xfrm>
            <a:off x="685800" y="2606040"/>
            <a:ext cx="98755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8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2025~2026 출시 게임 · Steam Store/API/Reviews · 데이터마이닝 1조</a:t>
            </a:r>
            <a:endParaRPr lang="ko-KR" sz="1850"/>
          </a:p>
        </p:txBody>
      </p:sp>
      <p:sp>
        <p:nvSpPr>
          <p:cNvPr id="6" name="Text 6"/>
          <p:cNvSpPr txBox="1"/>
          <p:nvPr/>
        </p:nvSpPr>
        <p:spPr>
          <a:xfrm>
            <a:off x="685800" y="5074920"/>
            <a:ext cx="594360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70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팀명: 미정  |  발표자: __________</a:t>
            </a:r>
            <a:endParaRPr lang="ko-KR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00 RUBRIC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평가기준 반영 체크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594360" y="1325880"/>
            <a:ext cx="525780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문제 정의 명확성: 슬라이드 3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이해도/기초통계: 슬라이드 6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기술 난이도: 크롤링+API+90일 윈도우+정적 리포트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모델/시스템 완성도: 슬라이드 8~12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필수 진행 흐름: 문제정의→수집→정제→탐색→분석→활용</a:t>
            </a:r>
            <a:endParaRPr lang="ko-KR" sz="1850"/>
          </a:p>
        </p:txBody>
      </p:sp>
      <p:sp>
        <p:nvSpPr>
          <p:cNvPr id="6" name="Text 6"/>
          <p:cNvSpPr txBox="1"/>
          <p:nvPr/>
        </p:nvSpPr>
        <p:spPr>
          <a:xfrm>
            <a:off x="6172200" y="1325880"/>
            <a:ext cx="484632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발표자료 필수 포함: 계획/목표, 구조/기능, 파이프라인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구현영상: AI 음성 금지, 직접 설명 필요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모델 고도화: 모델 비교 분석 결과와 활용 방안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보고서: 팀 보고서 + 개인 기여 보고서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GitHub 레포지토리 URL 제출</a:t>
            </a:r>
            <a:endParaRPr lang="ko-KR" sz="1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01 PLAN &amp; GOAL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프로젝트 계획과 목표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594360" y="1417320"/>
            <a:ext cx="539496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9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핵심 질문</a:t>
            </a:r>
            <a:endParaRPr lang="ko-KR" sz="1900"/>
          </a:p>
          <a:p>
            <a:pPr algn="l">
              <a:spcAft>
                <a:spcPts val="250"/>
              </a:spcAft>
            </a:pPr>
            <a:r>
              <a:rPr lang="ko-KR" sz="240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출시 전/초기 정보로 90일 흥행 가능성을 예측할 수 있는가?</a:t>
            </a:r>
            <a:endParaRPr lang="ko-KR" sz="2400"/>
          </a:p>
        </p:txBody>
      </p:sp>
      <p:sp>
        <p:nvSpPr>
          <p:cNvPr id="6" name="Text 6"/>
          <p:cNvSpPr txBox="1"/>
          <p:nvPr/>
        </p:nvSpPr>
        <p:spPr>
          <a:xfrm>
            <a:off x="6263640" y="1417320"/>
            <a:ext cx="489204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9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성공 기준</a:t>
            </a:r>
            <a:endParaRPr lang="ko-KR" sz="1900"/>
          </a:p>
          <a:p>
            <a:pPr algn="l">
              <a:spcAft>
                <a:spcPts val="250"/>
              </a:spcAft>
            </a:pPr>
            <a:r>
              <a:rPr lang="ko-KR" sz="230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90일 리뷰 ≥ 500 AND 긍정률 ≥ 80%</a:t>
            </a:r>
            <a:endParaRPr lang="ko-KR" sz="2300"/>
          </a:p>
        </p:txBody>
      </p:sp>
      <p:sp>
        <p:nvSpPr>
          <p:cNvPr id="7" name="Text 7"/>
          <p:cNvSpPr txBox="1"/>
          <p:nvPr/>
        </p:nvSpPr>
        <p:spPr>
          <a:xfrm>
            <a:off x="731520" y="3063240"/>
            <a:ext cx="10058400" cy="1828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1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성공/비성공 예측 모델 구축</a:t>
            </a:r>
            <a:endParaRPr lang="ko-KR" sz="2100"/>
          </a:p>
          <a:p>
            <a:pPr algn="l">
              <a:spcAft>
                <a:spcPts val="150"/>
              </a:spcAft>
            </a:pPr>
            <a:r>
              <a:rPr lang="ko-KR" sz="21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성공 요인 및 변수 중요도 분석</a:t>
            </a:r>
            <a:endParaRPr lang="ko-KR" sz="2100"/>
          </a:p>
          <a:p>
            <a:pPr algn="l">
              <a:spcAft>
                <a:spcPts val="150"/>
              </a:spcAft>
            </a:pPr>
            <a:r>
              <a:rPr lang="ko-KR" sz="21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가격, 장르, 태그, 언어, 플랫폼 기반 출시 전략 인사이트 도출</a:t>
            </a:r>
            <a:endParaRPr lang="ko-KR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02 PROCESS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전체 진행 흐름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325880"/>
            <a:ext cx="10241280" cy="4389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문제정의: 90일 성공 가능성 예측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수집: Steam 검색 크롤링 + appdetails API + Reviews/Histogram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정제: 후보 필터링, 출시일/가격/언어/장르 정규화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탐색: 라벨 분포, 장르/가격/언어별 성공률 확인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분석: Logistic Regression vs Random Forest 비교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결과 활용: 정적 HTML 리포트에서 성공 가능성/위험/액션 제안 제공</a:t>
            </a:r>
            <a:endParaRPr lang="ko-KR" sz="2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03 DATA COLLECTION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데이터 수집 범위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594360" y="1417320"/>
            <a:ext cx="237744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Release-window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29,298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appid</a:t>
            </a:r>
            <a:endParaRPr lang="ko-KR" sz="1250"/>
          </a:p>
        </p:txBody>
      </p:sp>
      <p:sp>
        <p:nvSpPr>
          <p:cNvPr id="6" name="Text 6"/>
          <p:cNvSpPr txBox="1"/>
          <p:nvPr/>
        </p:nvSpPr>
        <p:spPr>
          <a:xfrm>
            <a:off x="3246120" y="1417320"/>
            <a:ext cx="237744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게임 후보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A78BFA"/>
                </a:solidFill>
                <a:latin typeface="Malgun Gothic"/>
                <a:ea typeface="Malgun Gothic"/>
                <a:cs typeface="Malgun Gothic"/>
              </a:rPr>
              <a:t>29,018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appdetails 후</a:t>
            </a:r>
            <a:endParaRPr lang="ko-KR" sz="1250"/>
          </a:p>
        </p:txBody>
      </p:sp>
      <p:sp>
        <p:nvSpPr>
          <p:cNvPr id="7" name="Text 7"/>
          <p:cNvSpPr txBox="1"/>
          <p:nvPr/>
        </p:nvSpPr>
        <p:spPr>
          <a:xfrm>
            <a:off x="5897880" y="1417320"/>
            <a:ext cx="237744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90일 라벨 가능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22,473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학습 대상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8549640" y="1417320"/>
            <a:ext cx="237744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성공 라벨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636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2.8%</a:t>
            </a:r>
            <a:endParaRPr lang="ko-KR" sz="1250"/>
          </a:p>
        </p:txBody>
      </p:sp>
      <p:sp>
        <p:nvSpPr>
          <p:cNvPr id="9" name="Text 9"/>
          <p:cNvSpPr txBox="1"/>
          <p:nvPr/>
        </p:nvSpPr>
        <p:spPr>
          <a:xfrm>
            <a:off x="777240" y="2971800"/>
            <a:ext cx="9966960" cy="1920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직접 크롤링: Steam Released_DESC 검색 페이지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API 수집: appdetails, review summaries, review histogram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수집 결과는 data/raw, data/interim, data/processed로 분리 보존</a:t>
            </a:r>
            <a:endParaRPr lang="ko-KR" sz="2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04 EDA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데이터 이해도: 기초통계와 탐색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417320"/>
            <a:ext cx="246888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성공 비율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2.8%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636 / 22,473</a:t>
            </a:r>
            <a:endParaRPr lang="ko-KR" sz="1250"/>
          </a:p>
        </p:txBody>
      </p:sp>
      <p:sp>
        <p:nvSpPr>
          <p:cNvPr id="6" name="Text 6"/>
          <p:cNvSpPr txBox="1"/>
          <p:nvPr/>
        </p:nvSpPr>
        <p:spPr>
          <a:xfrm>
            <a:off x="3383280" y="1417320"/>
            <a:ext cx="246888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가격 30~60달러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17.4%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성공률</a:t>
            </a:r>
            <a:endParaRPr lang="ko-KR" sz="1250"/>
          </a:p>
        </p:txBody>
      </p:sp>
      <p:sp>
        <p:nvSpPr>
          <p:cNvPr id="7" name="Text 7"/>
          <p:cNvSpPr txBox="1"/>
          <p:nvPr/>
        </p:nvSpPr>
        <p:spPr>
          <a:xfrm>
            <a:off x="6126480" y="1417320"/>
            <a:ext cx="246888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언어 16~30개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8.9%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성공률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8869680" y="1417320"/>
            <a:ext cx="182880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RPG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A78BFA"/>
                </a:solidFill>
                <a:latin typeface="Malgun Gothic"/>
                <a:ea typeface="Malgun Gothic"/>
                <a:cs typeface="Malgun Gothic"/>
              </a:rPr>
              <a:t>5.1%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장르 상위</a:t>
            </a:r>
            <a:endParaRPr lang="ko-KR" sz="1250"/>
          </a:p>
        </p:txBody>
      </p:sp>
      <p:sp>
        <p:nvSpPr>
          <p:cNvPr id="9" name="Text 9"/>
          <p:cNvSpPr txBox="1"/>
          <p:nvPr/>
        </p:nvSpPr>
        <p:spPr>
          <a:xfrm>
            <a:off x="777240" y="2971800"/>
            <a:ext cx="9966960" cy="1874519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라벨 불균형이 커서 Accuracy 단독 해석은 위험</a:t>
            </a:r>
            <a:endParaRPr lang="ko-KR" sz="2000"/>
          </a:p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장르별 표본 수와 성공률을 함께 표시</a:t>
            </a:r>
            <a:endParaRPr lang="ko-KR" sz="2000"/>
          </a:p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sample_status와 smoothing으로 표본 부족 조합을 강한 추천에서 제외</a:t>
            </a:r>
            <a:endParaRPr lang="ko-KR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05 PREPROCESS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데이터 정제와 90일 라벨링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325880"/>
            <a:ext cx="512064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release_date 파싱 및 90일 라벨 가능 여부 계산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reviews_7d/30d/90d와 positive_rate_90d 생성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success_90d = reviews_90d ≥ 500 AND positive_rate_90d ≥ 80%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결측/타입 변환: 가격, 언어 수, 플랫폼 bool, 카테고리 count</a:t>
            </a:r>
            <a:endParaRPr lang="ko-KR" sz="1900"/>
          </a:p>
        </p:txBody>
      </p:sp>
      <p:sp>
        <p:nvSpPr>
          <p:cNvPr id="6" name="Text 6"/>
          <p:cNvSpPr txBox="1"/>
          <p:nvPr/>
        </p:nvSpPr>
        <p:spPr>
          <a:xfrm>
            <a:off x="6172200" y="1325880"/>
            <a:ext cx="489204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• 누수 방지: 30일/90일/현재 누적 성과 변수는 모델 입력 제외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사용 피처: 가격, 할인율, 언어 수, 장르/카테고리 수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멀티플레이, 컨트롤러, 업적, 플랫폼 지원 여부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2026-03-04 이후 게임은 트렌드/예측 대상, 학습 정답에서는 제외</a:t>
            </a:r>
            <a:endParaRPr lang="ko-KR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06 SYSTEM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분석 파이프라인과 시스템 구조</a:t>
            </a:r>
            <a:endParaRPr lang="ko-KR" sz="2750"/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10149840" cy="4297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07 MODEL COMPARISON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모델 비교 분석 결과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47548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2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Logistic Regression</a:t>
            </a:r>
            <a:endParaRPr lang="ko-KR" sz="2250"/>
          </a:p>
          <a:p>
            <a:pPr algn="l">
              <a:spcAft>
                <a:spcPts val="2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Accuracy 0.754</a:t>
            </a:r>
            <a:endParaRPr lang="ko-KR" sz="2050"/>
          </a:p>
          <a:p>
            <a:pPr algn="l">
              <a:spcAft>
                <a:spcPts val="2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Precision 0.074 / Recall 0.670</a:t>
            </a:r>
            <a:endParaRPr lang="ko-KR" sz="1900"/>
          </a:p>
          <a:p>
            <a:pPr algn="l">
              <a:spcAft>
                <a:spcPts val="2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F1 0.134 / ROC-AUC 0.789</a:t>
            </a:r>
            <a:endParaRPr lang="ko-KR" sz="1900"/>
          </a:p>
        </p:txBody>
      </p:sp>
      <p:sp>
        <p:nvSpPr>
          <p:cNvPr id="6" name="Text 6"/>
          <p:cNvSpPr txBox="1"/>
          <p:nvPr/>
        </p:nvSpPr>
        <p:spPr>
          <a:xfrm>
            <a:off x="6080760" y="1417320"/>
            <a:ext cx="47548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25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Random Forest</a:t>
            </a:r>
            <a:endParaRPr lang="ko-KR" sz="2250"/>
          </a:p>
          <a:p>
            <a:pPr algn="l">
              <a:spcAft>
                <a:spcPts val="2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Accuracy 0.827</a:t>
            </a:r>
            <a:endParaRPr lang="ko-KR" sz="2050"/>
          </a:p>
          <a:p>
            <a:pPr algn="l">
              <a:spcAft>
                <a:spcPts val="2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Precision 0.103 / Recall 0.660</a:t>
            </a:r>
            <a:endParaRPr lang="ko-KR" sz="1900"/>
          </a:p>
          <a:p>
            <a:pPr algn="l">
              <a:spcAft>
                <a:spcPts val="2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F1 0.178 / ROC-AUC 0.821</a:t>
            </a:r>
            <a:endParaRPr lang="ko-KR" sz="1900"/>
          </a:p>
          <a:p>
            <a:pPr algn="l">
              <a:spcAft>
                <a:spcPts val="250"/>
              </a:spcAft>
            </a:pPr>
            <a:r>
              <a:rPr lang="ko-KR" sz="1700" b="1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최종 선택 모델</a:t>
            </a:r>
            <a:endParaRPr lang="ko-KR" sz="1700"/>
          </a:p>
        </p:txBody>
      </p:sp>
      <p:sp>
        <p:nvSpPr>
          <p:cNvPr id="7" name="Text 7"/>
          <p:cNvSpPr txBox="1"/>
          <p:nvPr/>
        </p:nvSpPr>
        <p:spPr>
          <a:xfrm>
            <a:off x="868680" y="4572000"/>
            <a:ext cx="987552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성공 클래스 희소성 때문에 Accuracy보다 Recall/F1/ROC-AUC를 함께 해석</a:t>
            </a:r>
            <a:endParaRPr lang="ko-KR" sz="1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08 PERFORMANCE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선택 모델 성능과 해석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417320"/>
            <a:ext cx="228600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Accuracy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0.827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전체 정확도</a:t>
            </a:r>
            <a:endParaRPr lang="ko-KR" sz="1250"/>
          </a:p>
        </p:txBody>
      </p:sp>
      <p:sp>
        <p:nvSpPr>
          <p:cNvPr id="6" name="Text 6"/>
          <p:cNvSpPr txBox="1"/>
          <p:nvPr/>
        </p:nvSpPr>
        <p:spPr>
          <a:xfrm>
            <a:off x="3154680" y="1417320"/>
            <a:ext cx="228600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Precision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0.103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정밀도</a:t>
            </a:r>
            <a:endParaRPr lang="ko-KR" sz="1250"/>
          </a:p>
        </p:txBody>
      </p:sp>
      <p:sp>
        <p:nvSpPr>
          <p:cNvPr id="7" name="Text 7"/>
          <p:cNvSpPr txBox="1"/>
          <p:nvPr/>
        </p:nvSpPr>
        <p:spPr>
          <a:xfrm>
            <a:off x="5669280" y="1417320"/>
            <a:ext cx="228600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Recall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0.660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성공 후보 포착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8183879" y="1417320"/>
            <a:ext cx="2286000" cy="114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ROC-AUC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A78BFA"/>
                </a:solidFill>
                <a:latin typeface="Malgun Gothic"/>
                <a:ea typeface="Malgun Gothic"/>
                <a:cs typeface="Malgun Gothic"/>
              </a:rPr>
              <a:t>0.821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순위화 성능</a:t>
            </a:r>
            <a:endParaRPr lang="ko-KR" sz="1250"/>
          </a:p>
        </p:txBody>
      </p:sp>
      <p:sp>
        <p:nvSpPr>
          <p:cNvPr id="9" name="Text 9"/>
          <p:cNvSpPr txBox="1"/>
          <p:nvPr/>
        </p:nvSpPr>
        <p:spPr>
          <a:xfrm>
            <a:off x="777240" y="3063240"/>
            <a:ext cx="10058400" cy="1828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최종 판정기보다 성공 가능 후보 탐색기로 활용</a:t>
            </a:r>
            <a:endParaRPr lang="ko-KR" sz="2000"/>
          </a:p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threshold와 표본 확장에 따라 Precision 개선 가능</a:t>
            </a:r>
            <a:endParaRPr lang="ko-KR" sz="2000"/>
          </a:p>
          <a:p>
            <a:pPr algn="l">
              <a:spcAft>
                <a:spcPts val="150"/>
              </a:spcAft>
            </a:pPr>
            <a:r>
              <a:rPr lang="ko-KR" sz="20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혼동행렬과 classification report는 reports/90d/model_metrics.json에 보존</a:t>
            </a:r>
            <a:endParaRPr lang="ko-KR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09 FEATURES &amp; DIFFICULTY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중요 변수와 기술 난이도</a:t>
            </a:r>
            <a:endParaRPr lang="ko-KR" sz="2750"/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4343400"/>
          </a:xfrm>
          <a:prstGeom prst="rect">
            <a:avLst/>
          </a:prstGeom>
          <a:ln>
            <a:noFill/>
          </a:ln>
        </p:spPr>
      </p:pic>
      <p:sp>
        <p:nvSpPr>
          <p:cNvPr id="6" name="Text 6"/>
          <p:cNvSpPr txBox="1"/>
          <p:nvPr/>
        </p:nvSpPr>
        <p:spPr>
          <a:xfrm>
            <a:off x="6309360" y="1417320"/>
            <a:ext cx="4709160" cy="4160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price_final_usd: 0.285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supported_language_count: 0.281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supports_achievements: 0.141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category_count: 0.118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supports_controller: 0.044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discount_percent: 0.041</a:t>
            </a:r>
            <a:endParaRPr lang="ko-KR" sz="1750"/>
          </a:p>
          <a:p>
            <a:pPr algn="l">
              <a:spcAft>
                <a:spcPts val="150"/>
              </a:spcAft>
            </a:pPr>
            <a:r>
              <a:rPr lang="ko-KR" sz="17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직접 구현: 수집→전처리→모델→리포트 end-to-end</a:t>
            </a:r>
            <a:endParaRPr lang="ko-KR" sz="1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10 INSIGHT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시장 인사이트와 결과 활용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325880"/>
            <a:ext cx="521208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RPG: 5.1% (215 / 4,253)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Simulation: 4.6% (241 / 5,262)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가격 30~60달러: 17.4%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언어 16~30개 지원: 8.9%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표본 부족 조합은 탐색 후보로 분리</a:t>
            </a:r>
            <a:endParaRPr lang="ko-KR" sz="1950"/>
          </a:p>
        </p:txBody>
      </p:sp>
      <p:sp>
        <p:nvSpPr>
          <p:cNvPr id="6" name="Text 6"/>
          <p:cNvSpPr txBox="1"/>
          <p:nvPr/>
        </p:nvSpPr>
        <p:spPr>
          <a:xfrm>
            <a:off x="6217920" y="1325880"/>
            <a:ext cx="480060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25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활용 방안</a:t>
            </a:r>
            <a:endParaRPr lang="ko-KR" sz="2250"/>
          </a:p>
          <a:p>
            <a:pPr algn="l">
              <a:spcAft>
                <a:spcPts val="2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출시 전 가격대/언어 지원 전략 점검</a:t>
            </a:r>
            <a:endParaRPr lang="ko-KR" sz="1950"/>
          </a:p>
          <a:p>
            <a:pPr algn="l">
              <a:spcAft>
                <a:spcPts val="2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장르·태그 조합의 비교군 확인</a:t>
            </a:r>
            <a:endParaRPr lang="ko-KR" sz="1950"/>
          </a:p>
          <a:p>
            <a:pPr algn="l">
              <a:spcAft>
                <a:spcPts val="2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리스크와 액션 제안을 HTML 리포트로 확인</a:t>
            </a:r>
            <a:endParaRPr lang="ko-KR" sz="1950"/>
          </a:p>
          <a:p>
            <a:pPr algn="l">
              <a:spcAft>
                <a:spcPts val="250"/>
              </a:spcAft>
            </a:pPr>
            <a:r>
              <a:rPr lang="ko-KR" sz="1950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• 발표 시 market_insight_site.html 데모 가능</a:t>
            </a:r>
            <a:endParaRPr lang="ko-KR" sz="1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11 DEMO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정적 리포트와 구현영상 시나리오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325880"/>
            <a:ext cx="516636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reports/90d/market_insight_site.html 열기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장르/태그/가격/언어/플랫폼 조건 입력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성공 가능성 카드 확인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비교군과 위험 요인 확인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액션 제안으로 출시 전략 설명</a:t>
            </a:r>
            <a:endParaRPr lang="ko-KR" sz="1900"/>
          </a:p>
        </p:txBody>
      </p:sp>
      <p:sp>
        <p:nvSpPr>
          <p:cNvPr id="6" name="Text 6"/>
          <p:cNvSpPr txBox="1"/>
          <p:nvPr/>
        </p:nvSpPr>
        <p:spPr>
          <a:xfrm>
            <a:off x="6217920" y="1325880"/>
            <a:ext cx="4800600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43F5E"/>
                </a:solidFill>
                <a:latin typeface="Malgun Gothic"/>
                <a:ea typeface="Malgun Gothic"/>
                <a:cs typeface="Malgun Gothic"/>
              </a:rPr>
              <a:t>• AI 음성 사용 금지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• 발표자가 직접 설명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모델 고도화 프로젝트이므로 모델 비교 분석 결과 포함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활용 방안: 출시 전략 의사결정 보조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GitHub URL과 최종 산출물 위치 안내</a:t>
            </a:r>
            <a:endParaRPr lang="ko-KR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12 CASE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예측 사례: Clair Obscur: Expedition 33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85800" y="1508760"/>
            <a:ext cx="306324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예측 성공 확률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90.8%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random_forest</a:t>
            </a:r>
            <a:endParaRPr lang="ko-KR" sz="1250"/>
          </a:p>
        </p:txBody>
      </p:sp>
      <p:sp>
        <p:nvSpPr>
          <p:cNvPr id="6" name="Text 6"/>
          <p:cNvSpPr txBox="1"/>
          <p:nvPr/>
        </p:nvSpPr>
        <p:spPr>
          <a:xfrm>
            <a:off x="4069080" y="1508760"/>
            <a:ext cx="306324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리뷰 수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98,475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기준 충족</a:t>
            </a:r>
            <a:endParaRPr lang="ko-KR" sz="1250"/>
          </a:p>
        </p:txBody>
      </p:sp>
      <p:sp>
        <p:nvSpPr>
          <p:cNvPr id="7" name="Text 7"/>
          <p:cNvSpPr txBox="1"/>
          <p:nvPr/>
        </p:nvSpPr>
        <p:spPr>
          <a:xfrm>
            <a:off x="7452360" y="1508760"/>
            <a:ext cx="306324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80"/>
              </a:spcAft>
            </a:pPr>
            <a:r>
              <a:rPr lang="ko-KR" sz="1300" b="1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긍정률</a:t>
            </a:r>
            <a:endParaRPr lang="ko-KR" sz="1300"/>
          </a:p>
          <a:p>
            <a:pPr algn="l">
              <a:spcAft>
                <a:spcPts val="90"/>
              </a:spcAft>
            </a:pPr>
            <a:r>
              <a:rPr lang="ko-KR" sz="2900" b="1" dirty="0">
                <a:solidFill>
                  <a:srgbClr val="A78BFA"/>
                </a:solidFill>
                <a:latin typeface="Malgun Gothic"/>
                <a:ea typeface="Malgun Gothic"/>
                <a:cs typeface="Malgun Gothic"/>
              </a:rPr>
              <a:t>95.4%</a:t>
            </a:r>
            <a:endParaRPr lang="ko-KR" sz="2900"/>
          </a:p>
          <a:p>
            <a:pPr algn="l">
              <a:spcAft>
                <a:spcPts val="250"/>
              </a:spcAft>
            </a:pPr>
            <a:r>
              <a:rPr lang="ko-KR" sz="1250" dirty="0">
                <a:solidFill>
                  <a:srgbClr val="A7B0BE"/>
                </a:solidFill>
                <a:latin typeface="Malgun Gothic"/>
                <a:ea typeface="Malgun Gothic"/>
                <a:cs typeface="Malgun Gothic"/>
              </a:rPr>
              <a:t>80% 이상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777240" y="3246120"/>
            <a:ext cx="9966960" cy="1508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Steam 링크: https://store.steampowered.com/app/1903340/</a:t>
            </a:r>
            <a:endParaRPr lang="ko-KR" sz="1900"/>
          </a:p>
          <a:p>
            <a:pPr algn="l">
              <a:spcAft>
                <a:spcPts val="150"/>
              </a:spcAft>
            </a:pPr>
            <a:r>
              <a:rPr lang="ko-KR" sz="19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이미 성공한 사례를 통해 모델 출력과 기준 충족 여부를 설명</a:t>
            </a:r>
            <a:endParaRPr lang="ko-KR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13 LIMITATION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한계와 개선 방향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85800" y="1417320"/>
            <a:ext cx="10149840" cy="4023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• Steam popularnew 검색 노출 기반 표본: 전체 시장 무작위 표본 아님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• 성공 기준은 매출이 아니라 90일 리뷰 수/긍정률 proxy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성공 클래스 희소성 때문에 Precision 낮음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리뷰 토픽/외부 coverage 자동화는 다음 개선 과제</a:t>
            </a:r>
            <a:endParaRPr lang="ko-KR" sz="2050"/>
          </a:p>
          <a:p>
            <a:pPr algn="l">
              <a:spcAft>
                <a:spcPts val="150"/>
              </a:spcAft>
            </a:pPr>
            <a:r>
              <a:rPr lang="ko-KR" sz="20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데이터 확장과 threshold 조정으로 실사용 성능 개선 가능</a:t>
            </a:r>
            <a:endParaRPr lang="ko-KR" sz="2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14 SUBMISSION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제출물 체크리스트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40080" y="1325880"/>
            <a:ext cx="51663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발표자료: 이 PPTX + 대본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구현영상: 직접 설명, AI 음성 금지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팀 보고서: 스마트리드 보고서 기준 참조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개인 기여 보고서: 각자 작성</a:t>
            </a:r>
            <a:endParaRPr lang="ko-KR" sz="1950"/>
          </a:p>
          <a:p>
            <a:pPr algn="l">
              <a:spcAft>
                <a:spcPts val="150"/>
              </a:spcAft>
            </a:pPr>
            <a:r>
              <a:rPr lang="ko-KR" sz="19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GitHub 레포지토리 URL 제출</a:t>
            </a:r>
            <a:endParaRPr lang="ko-KR" sz="1950"/>
          </a:p>
        </p:txBody>
      </p:sp>
      <p:sp>
        <p:nvSpPr>
          <p:cNvPr id="6" name="Text 6"/>
          <p:cNvSpPr txBox="1"/>
          <p:nvPr/>
        </p:nvSpPr>
        <p:spPr>
          <a:xfrm>
            <a:off x="6217920" y="1325880"/>
            <a:ext cx="480060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최종 리포트: reports/90d/market_insight_site.html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모델: models/steam_success_90d_model.joblib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근거 표/그림: reports/90d/*.csv, figures/*.png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내부평가: 5명 팀 기준 A 1명, B 최대 2명, C/D 최대 2명</a:t>
            </a:r>
            <a:endParaRPr lang="ko-KR" sz="1850"/>
          </a:p>
          <a:p>
            <a:pPr algn="l">
              <a:spcAft>
                <a:spcPts val="150"/>
              </a:spcAft>
            </a:pPr>
            <a:r>
              <a:rPr lang="ko-KR" sz="185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출석 기준: 팀 피드백</a:t>
            </a:r>
            <a:endParaRPr lang="ko-KR" sz="1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11480" y="210312"/>
            <a:ext cx="3657600" cy="3200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135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15 TEAM</a:t>
            </a:r>
            <a:endParaRPr lang="ko-KR" sz="1350"/>
          </a:p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10789920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250"/>
              </a:spcAft>
            </a:pPr>
            <a:r>
              <a:rPr lang="ko-KR" sz="2750" b="1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팀 구성과 마무리</a:t>
            </a:r>
            <a:endParaRPr lang="ko-KR" sz="2750"/>
          </a:p>
        </p:txBody>
      </p:sp>
      <p:sp>
        <p:nvSpPr>
          <p:cNvPr id="5" name="Text 5"/>
          <p:cNvSpPr txBox="1"/>
          <p:nvPr/>
        </p:nvSpPr>
        <p:spPr>
          <a:xfrm>
            <a:off x="685800" y="1325880"/>
            <a:ext cx="10149840" cy="3474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l">
              <a:spcAft>
                <a:spcPts val="150"/>
              </a:spcAft>
            </a:pPr>
            <a:r>
              <a:rPr lang="ko-KR" sz="18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김지훈: 데이터 분류 및 구조 설계</a:t>
            </a:r>
            <a:endParaRPr lang="ko-KR" sz="1800"/>
          </a:p>
          <a:p>
            <a:pPr algn="l">
              <a:spcAft>
                <a:spcPts val="150"/>
              </a:spcAft>
            </a:pPr>
            <a:r>
              <a:rPr lang="ko-KR" sz="18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김용우: 데이터 수집, 크롤링, 데이터 정제</a:t>
            </a:r>
            <a:endParaRPr lang="ko-KR" sz="1800"/>
          </a:p>
          <a:p>
            <a:pPr algn="l">
              <a:spcAft>
                <a:spcPts val="150"/>
              </a:spcAft>
            </a:pPr>
            <a:r>
              <a:rPr lang="ko-KR" sz="18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이도현: 데이터 시각화</a:t>
            </a:r>
            <a:endParaRPr lang="ko-KR" sz="1800"/>
          </a:p>
          <a:p>
            <a:pPr algn="l">
              <a:spcAft>
                <a:spcPts val="150"/>
              </a:spcAft>
            </a:pPr>
            <a:r>
              <a:rPr lang="ko-KR" sz="18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최동규: 발표자료 정리/취합, 자료 생성, 일정 조율/관리</a:t>
            </a:r>
            <a:endParaRPr lang="ko-KR" sz="1800"/>
          </a:p>
          <a:p>
            <a:pPr algn="l">
              <a:spcAft>
                <a:spcPts val="150"/>
              </a:spcAft>
            </a:pPr>
            <a:r>
              <a:rPr lang="ko-KR" sz="1800" dirty="0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• 왕지환: 발표자료 정리/취합, 자료 생성, 일정 조율/관리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685800" y="4983480"/>
            <a:ext cx="1014984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 wrap="square" anchor="t" lIns="127000" tIns="91440" rIns="127000" bIns="91440"/>
          <a:lstStyle/>
          <a:p>
            <a:pPr algn="c">
              <a:spcAft>
                <a:spcPts val="250"/>
              </a:spcAft>
            </a:pPr>
            <a:r>
              <a:rPr lang="ko-KR" sz="3300" b="1" dirty="0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Q&amp;A</a:t>
            </a:r>
            <a:endParaRPr lang="ko-KR"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5070B"/>
      </a:dk1>
      <a:lt1>
        <a:srgbClr val="F8FAFC"/>
      </a:lt1>
      <a:dk2>
        <a:srgbClr val="111827"/>
      </a:dk2>
      <a:lt2>
        <a:srgbClr val="A7B0BE"/>
      </a:lt2>
      <a:accent1>
        <a:srgbClr val="38BDF8"/>
      </a:accent1>
      <a:accent2>
        <a:srgbClr val="22C55E"/>
      </a:accent2>
      <a:accent3>
        <a:srgbClr val="F59E0B"/>
      </a:accent3>
      <a:accent4>
        <a:srgbClr val="A78BFA"/>
      </a:accent4>
      <a:accent5>
        <a:srgbClr val="F43F5E"/>
      </a:accent5>
      <a:accent6>
        <a:srgbClr val="64748B"/>
      </a:accent6>
      <a:hlink>
        <a:srgbClr val="38BDF8"/>
      </a:hlink>
      <a:folHlink>
        <a:srgbClr val="A78BFA"/>
      </a:folHlink>
    </a:clrScheme>
    <a:fontScheme name="Malgun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OpenXML generated</Application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Steam 90d Success Prediction Deck</dc:title>
  <dc:creator>Hephaestus</dc:creator>
  <cp:lastModifiedBy>Hephaestus</cp:lastModifiedBy>
  <dcterms:created xsi:type="dcterms:W3CDTF">2026-06-07T12:54:59Z</dcterms:created>
  <dcterms:modified xsi:type="dcterms:W3CDTF">2026-06-07T12:54:59Z</dcterms:modified>
</cp:coreProperties>
</file>